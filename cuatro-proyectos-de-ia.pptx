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00A89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389120"/>
            <a:ext cx="3840480" cy="3840480"/>
          </a:xfrm>
          <a:prstGeom prst="ellipse">
            <a:avLst/>
          </a:prstGeom>
          <a:solidFill>
            <a:srgbClr val="02C39A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proyectos de IA,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cero a producción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RAG · Clasificador de Residuos · Agente Tool-Use · Recomendador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617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· decisiones de diseño · bugs reales y cómo se resolvieron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vamos a repasar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38988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1 — Chatbot RAG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682496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Arquitectura, decisiones, bugs y deploy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21284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2 — Clasificador de Residuos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505456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learning, ONNX, bugs y deploy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06324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03580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3 — Agente Tool-Use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328416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calling, el loop del agente, bugs y deploy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886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85876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4 — Recomendador de Películas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151376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Filtrado colaborativo, matrices ralas, sin bugs esta vez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70916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4709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468172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 transversales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4974336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repite entre los cuatro proyectos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53212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02809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5532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1463040" y="550468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5797296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dónde sigue el portafolio de IA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3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Shape 1"/>
          <p:cNvSpPr/>
          <p:nvPr/>
        </p:nvSpPr>
        <p:spPr>
          <a:xfrm>
            <a:off x="3383280" y="2331720"/>
            <a:ext cx="36576" cy="18288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0" y="23317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 RAG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33375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preguntas sobre mi experiencia, basado en mis propios documentos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1 · CONCEPTO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RAG y no solo un LLM?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86000"/>
            <a:ext cx="548640" cy="54864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632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LLM normal solo responde con lo que memorizó en su entrenamiento — no sabe nada sobre mí en particular. Preguntarle directamente "¿quién es Nicolas?" no da ninguna información real.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0" y="22860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solución: RAG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30632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Generation: antes de responder, se le entrega al LLM un puñado de fragmentos relevantes de mis propios documentos, directamente en el prompt. El modelo no se re-entrena — solo lee el contexto en el momento.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1 · ARQUITECTURA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fases separadas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A — Indexado (una vez, al arrancar)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42316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8" name="Shape 6"/>
          <p:cNvSpPr/>
          <p:nvPr/>
        </p:nvSpPr>
        <p:spPr>
          <a:xfrm>
            <a:off x="269748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0720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Trocear en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11" name="Shape 9"/>
          <p:cNvSpPr/>
          <p:nvPr/>
        </p:nvSpPr>
        <p:spPr>
          <a:xfrm>
            <a:off x="484632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5604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2084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14" name="Shape 12"/>
          <p:cNvSpPr/>
          <p:nvPr/>
        </p:nvSpPr>
        <p:spPr>
          <a:xfrm>
            <a:off x="699516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0488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en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B — Consulta (en cada mensaje)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del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42316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0" name="Shape 18"/>
          <p:cNvSpPr/>
          <p:nvPr/>
        </p:nvSpPr>
        <p:spPr>
          <a:xfrm>
            <a:off x="269748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80720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chunks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3" name="Shape 21"/>
          <p:cNvSpPr/>
          <p:nvPr/>
        </p:nvSpPr>
        <p:spPr>
          <a:xfrm>
            <a:off x="484632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5604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 en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prompt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72084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6" name="Shape 24"/>
          <p:cNvSpPr/>
          <p:nvPr/>
        </p:nvSpPr>
        <p:spPr>
          <a:xfrm>
            <a:off x="699516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0488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LLM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2F7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51937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vector store construido en la Fase A queda en memoria y se reutiliza en cada consulta de la Fase B — por eso indexar es "una vez" y consultar es "cada mensaje".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1 · FASE 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Indexado: de documentos a vectores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2821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documentos (load_documents)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39112"/>
            <a:ext cx="1033272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 data/, usa TextLoader para .md/.txt y PyPDFLoader para .pdf. Hoy: un solo archivo con mi bio, experiencia y proyectos.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6037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6037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90550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Trocear en chunks (RecursiveCharacterTextSplitter)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216402"/>
            <a:ext cx="1033272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chunk_size=800, chunk_overlap=100. Chunks pequeños se embeben con más precisión que un documento gigante.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376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1376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08279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embeddings (FastEmbedEmbeddings)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93692"/>
            <a:ext cx="1033272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sentence-transformers/all-MiniLM-L6-v2 vía ONNX Runtime — corre local y gratis, sin PyTorch.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31495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31495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26008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en Chroma (Chroma.from_documents)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570982"/>
            <a:ext cx="1033272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vectorial en memoria: guarda pares (texto, vector) y busca los más cercanos por similitud.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1 · FASE 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Consulta: de pregunta a respuesta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2821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Embeber la pregunta y buscar (retriever.invoke)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3911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modelo de embeddings; k=4 → los 4 chunks más similares semánticamente (no por palabras clave).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528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352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29793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Armar el prompt con el contexto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60883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4 chunks se insertan en el system prompt, que instruye al modelo a responder solo desde ahí.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922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922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86765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LLM genera la respuesta (llm.invoke)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17855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ChatGroq, modelo openai/gpt-oss-20b, temperature=0.2 (respuestas factuales, no creativas).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78040" y="1783080"/>
            <a:ext cx="4434840" cy="4709160"/>
          </a:xfrm>
          <a:prstGeom prst="roundRect">
            <a:avLst>
              <a:gd name="adj" fmla="val 1649"/>
            </a:avLst>
          </a:prstGeom>
          <a:solidFill>
            <a:srgbClr val="0737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0664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(app.py)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2240280"/>
            <a:ext cx="4023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 are a helpful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assistant answering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 about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Nicolas... based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 on the context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provided below.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the answer isn't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the context, say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don't have that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information instead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 guessing.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{context}"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1 · CONCEPTOS CLAVE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Glosario para no perderse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9339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10312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51460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~384 números que representa el significado de un texto. Textos similares → vectores cercanos en ese espacio.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9" name="Shape 7"/>
          <p:cNvSpPr/>
          <p:nvPr/>
        </p:nvSpPr>
        <p:spPr>
          <a:xfrm>
            <a:off x="6519672" y="199339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19672" y="210312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251460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Trocear documentos largos en fragmentos pequeños antes de embeberlos, para que cada vector represente una idea, no un promedio borroso de todo.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423367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434340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semántica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475488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por significado, no por palabras exactas. "¿A qué se dedica?" puede hacer match con "Ingeniero en Informática".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519672" y="423367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19672" y="434340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519672" y="475488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Anclar al modelo al contexto real vía el system prompt, para que admita no saber en vez de alucinar (inventar).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1 · TROUBLESHOOTING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problemas reales en el camino al deploy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0120" y="1874520"/>
            <a:ext cx="32004" cy="4352544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56232"/>
            <a:ext cx="365760" cy="365760"/>
          </a:xfrm>
          <a:prstGeom prst="ellipse">
            <a:avLst/>
          </a:prstGeom>
          <a:solidFill>
            <a:srgbClr val="C1440E"/>
          </a:solidFill>
          <a:ln w="25400"/>
        </p:spPr>
      </p:sp>
      <p:sp>
        <p:nvSpPr>
          <p:cNvPr id="6" name="Text 4"/>
          <p:cNvSpPr txBox="1"/>
          <p:nvPr/>
        </p:nvSpPr>
        <p:spPr>
          <a:xfrm>
            <a:off x="77724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83080"/>
            <a:ext cx="4663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llama-3.1-8b-instant ya no existía en Groq (catálogo cambió)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929384"/>
            <a:ext cx="36576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0" y="1783080"/>
            <a:ext cx="4937760" cy="996696"/>
          </a:xfrm>
          <a:prstGeom prst="roundRect">
            <a:avLst>
              <a:gd name="adj" fmla="val 5505"/>
            </a:avLst>
          </a:prstGeom>
          <a:solidFill>
            <a:srgbClr val="F2F7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03720" y="1783080"/>
            <a:ext cx="44805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listaron los modelos vigentes vía API y se cambió a openai/gpt-oss-20b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2990088"/>
            <a:ext cx="365760" cy="365760"/>
          </a:xfrm>
          <a:prstGeom prst="ellipse">
            <a:avLst/>
          </a:prstGeom>
          <a:solidFill>
            <a:srgbClr val="C1440E"/>
          </a:solidFill>
          <a:ln w="25400"/>
        </p:spPr>
      </p:sp>
      <p:sp>
        <p:nvSpPr>
          <p:cNvPr id="12" name="Text 10"/>
          <p:cNvSpPr txBox="1"/>
          <p:nvPr/>
        </p:nvSpPr>
        <p:spPr>
          <a:xfrm>
            <a:off x="777240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2916936"/>
            <a:ext cx="4663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memory en Render: sentence-transformers (PyTorch) pasaba los 512MB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3063240"/>
            <a:ext cx="36576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0" y="2916936"/>
            <a:ext cx="4937760" cy="996696"/>
          </a:xfrm>
          <a:prstGeom prst="roundRect">
            <a:avLst>
              <a:gd name="adj" fmla="val 5505"/>
            </a:avLst>
          </a:prstGeom>
          <a:solidFill>
            <a:srgbClr val="F2F7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03720" y="2916936"/>
            <a:ext cx="44805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cambió a FastEmbed (ONNX Runtime) — bajó de &gt;512MB a ~330MB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4123944"/>
            <a:ext cx="365760" cy="365760"/>
          </a:xfrm>
          <a:prstGeom prst="ellipse">
            <a:avLst/>
          </a:prstGeom>
          <a:solidFill>
            <a:srgbClr val="C1440E"/>
          </a:solidFill>
          <a:ln w="25400"/>
        </p:spPr>
      </p:sp>
      <p:sp>
        <p:nvSpPr>
          <p:cNvPr id="18" name="Text 16"/>
          <p:cNvSpPr txBox="1"/>
          <p:nvPr/>
        </p:nvSpPr>
        <p:spPr>
          <a:xfrm>
            <a:off x="777240" y="4123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050792"/>
            <a:ext cx="4663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fastembed==0.4.2 no existía en PyPI para el entorno de Render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4197096"/>
            <a:ext cx="36576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0" y="4050792"/>
            <a:ext cx="4937760" cy="996696"/>
          </a:xfrm>
          <a:prstGeom prst="roundRect">
            <a:avLst>
              <a:gd name="adj" fmla="val 5505"/>
            </a:avLst>
          </a:prstGeom>
          <a:solidFill>
            <a:srgbClr val="F2F7F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903720" y="4050792"/>
            <a:ext cx="44805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corrigió a una versión real y publicada (0.7.3)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77240" y="5257800"/>
            <a:ext cx="365760" cy="365760"/>
          </a:xfrm>
          <a:prstGeom prst="ellipse">
            <a:avLst/>
          </a:prstGeom>
          <a:solidFill>
            <a:srgbClr val="C1440E"/>
          </a:solidFill>
          <a:ln w="25400"/>
        </p:spPr>
      </p:sp>
      <p:sp>
        <p:nvSpPr>
          <p:cNvPr id="24" name="Text 22"/>
          <p:cNvSpPr txBox="1"/>
          <p:nvPr/>
        </p:nvSpPr>
        <p:spPr>
          <a:xfrm>
            <a:off x="777240" y="5257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5184648"/>
            <a:ext cx="4663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Conflicto de numpy: langchain pide &lt;2.0, fastembed pide ≥2.1 en Python 3.12+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72200" y="5330952"/>
            <a:ext cx="36576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27" name="Shape 25"/>
          <p:cNvSpPr/>
          <p:nvPr/>
        </p:nvSpPr>
        <p:spPr>
          <a:xfrm>
            <a:off x="6675120" y="5184648"/>
            <a:ext cx="4937760" cy="996696"/>
          </a:xfrm>
          <a:prstGeom prst="roundRect">
            <a:avLst>
              <a:gd name="adj" fmla="val 5505"/>
            </a:avLst>
          </a:prstGeom>
          <a:solidFill>
            <a:srgbClr val="F2F7F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903720" y="5184648"/>
            <a:ext cx="44805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fijó Python 3.10.13 explícitamente en render.yaml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1 · RESUMEN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Stack, deploy y resultado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TÉCNICO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— orquestación del pipeline RAG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3500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— vector store en memoria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2549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73405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FastEmbed — embeddings vía ONNX Runtime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0954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11810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(openai/gpt-oss-20b) — generación de respuestas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59359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5021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— interfaz de chat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1691640"/>
            <a:ext cx="5257800" cy="3246120"/>
          </a:xfrm>
          <a:prstGeom prst="roundRect">
            <a:avLst>
              <a:gd name="adj" fmla="val 2254"/>
            </a:avLst>
          </a:prstGeom>
          <a:solidFill>
            <a:srgbClr val="0737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2940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219456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Plataforma: Render (free tier)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Blueprint: render.yaml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Variable: GROQ_API_KEY (secreta)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fijado: 3.10.13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Verificado en producción: pregunta real sobre mi experiencia → respuesta correcta y bien fundamentada, citando proyectos reales del contexto.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3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Shape 1"/>
          <p:cNvSpPr/>
          <p:nvPr/>
        </p:nvSpPr>
        <p:spPr>
          <a:xfrm>
            <a:off x="3383280" y="2331720"/>
            <a:ext cx="36576" cy="18288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0" y="23317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Clasificador de Residuos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33375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 una foto en 6 categorías de reciclaje usando transfer learning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2 · CONCEPTO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transfer learning?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86000"/>
            <a:ext cx="548640" cy="54864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632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Entrenar una red de reconocimiento de imágenes desde cero requiere millones de fotos etiquetadas y días de cómputo en GPU — nada realista para un proyecto de práctica.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0" y="22860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solución: transfer learning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30632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Partir de una red ya entrenada en un problema genérico gigante (1000 categorías, 1.2 millones de fotos) y solo reenseñarle la última capa con mis 6 categorías y unos cientos de imágenes.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2 · ARQUITECTURA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Entrenamiento vs. inferencia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A — Entrenamiento (train.py, una vez, en mi máquina)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42316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8" name="Shape 6"/>
          <p:cNvSpPr/>
          <p:nvPr/>
        </p:nvSpPr>
        <p:spPr>
          <a:xfrm>
            <a:off x="269748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0720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pre-entrenada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11" name="Shape 9"/>
          <p:cNvSpPr/>
          <p:nvPr/>
        </p:nvSpPr>
        <p:spPr>
          <a:xfrm>
            <a:off x="484632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5604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Congelar y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reemplazar capa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2084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14" name="Shape 12"/>
          <p:cNvSpPr/>
          <p:nvPr/>
        </p:nvSpPr>
        <p:spPr>
          <a:xfrm>
            <a:off x="699516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0488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ONNX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B — Inferencia (app.py, en cada foto subida)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sube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foto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42316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0" name="Shape 18"/>
          <p:cNvSpPr/>
          <p:nvPr/>
        </p:nvSpPr>
        <p:spPr>
          <a:xfrm>
            <a:off x="269748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80720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3" name="Shape 21"/>
          <p:cNvSpPr/>
          <p:nvPr/>
        </p:nvSpPr>
        <p:spPr>
          <a:xfrm>
            <a:off x="484632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5604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 por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72084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6" name="Shape 24"/>
          <p:cNvSpPr/>
          <p:nvPr/>
        </p:nvSpPr>
        <p:spPr>
          <a:xfrm>
            <a:off x="699516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0488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→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2F7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51937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entrenado (waste_classifier.onnx) es el único puente entre las dos fases — por eso el servidor de producción nunca necesita instalar PyTorch.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2 · FASE A (parte 1)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balanceado y modelo base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2821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desbalanceado → muestreo parejo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39112"/>
            <a:ext cx="1033272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garythung/trashnet tiene clases muy dispares (ej. "trash" mucho menor que "paper"). Se tomaron 150 imágenes por clase (900 en total) para evitar que el modelo aprenda a favorecer las clases más comunes.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6037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6037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90550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pre-entrenado (ImageNet)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216402"/>
            <a:ext cx="1033272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pequeña y rápida, pensada para celulares. Ya sabe detectar bordes, texturas y formas genéricas.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376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1376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08279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Congelar model.features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93692"/>
            <a:ext cx="1033272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requires_grad = False en todas las capas convolucionales — ese conocimiento visual genérico no se toca.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31495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31495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26008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Reemplazar model.classifier[1]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570982"/>
            <a:ext cx="1033272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capa final con 6 salidas (antes 1000, las clases de ImageNet). Solo esta capa se entrena.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2 · FASE A (parte 2)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Entrenamiento y exportación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2821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Bucle de entrenamiento (5 épocas)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3911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época: predecir → medir error (cross-entropy) → ajustar solo los pesos de la capa final. Accuracy: 50% (época 1) → 78% (época 5).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528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352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29793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(RandomHorizontalFlip)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60883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Voltear imágenes al azar durante el entrenamiento para generalizar mejor con pocos datos.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922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922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86765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a ONNX (torch.onnx.export)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17855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estándar ejecutable con ONNX Runtime, sin necesitar PyTorch instalado en el servidor de producción.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78040" y="1783080"/>
            <a:ext cx="4434840" cy="4709160"/>
          </a:xfrm>
          <a:prstGeom prst="roundRect">
            <a:avLst>
              <a:gd name="adj" fmla="val 1649"/>
            </a:avLst>
          </a:prstGeom>
          <a:solidFill>
            <a:srgbClr val="0737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0664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DEL ENTRENAMIENTO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2240280"/>
            <a:ext cx="4023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1/5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loss 1.36 - acc 49.8%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2/5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loss 0.88 - acc 68.7%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3/5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loss 0.71 - acc 75.3%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4/5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loss 0.67 - acc 77.9%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5/5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loss 0.62 - acc 77.9%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Exportado: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waste_classifier.onnx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(8.9 MB)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2 · FASE 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Inferencia: la parte más delicada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2821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el modelo ONNX (una sola vez)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3911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InferenceSession al arrancar el servidor — igual que el vectorstore del chatbot.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528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352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29793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Preprocesar EXACTO igual que en el entrenamiento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60883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tamaño (160×160), mismo rango (÷255), misma normalización (mean/std de ImageNet), mismo orden de ejes (HWC→CHW). Si algo no calza, el modelo no falla — predice mal en silencio.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922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922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86765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convierte logits en probabilidades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17855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números crudos del modelo se convierten en 6 probabilidades que suman 100%, listas para mostrar en gr.Label.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78040" y="1783080"/>
            <a:ext cx="4434840" cy="4709160"/>
          </a:xfrm>
          <a:prstGeom prst="roundRect">
            <a:avLst>
              <a:gd name="adj" fmla="val 1649"/>
            </a:avLst>
          </a:prstGeom>
          <a:solidFill>
            <a:srgbClr val="0737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0664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EN LA PRÁCTICA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2240280"/>
            <a:ext cx="4023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logits crudos: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glass:     2.3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metal:     1.8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cardboard: -0.5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softmax ↓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probabilidades: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glass:     77%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metal:     16%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cardboard:  2%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(siempre suman 100%,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incluso si la foto no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 ninguna categoría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conocida)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2 · CONCEPTOS CLAVE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Glosario para no perderse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9339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10312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51460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Reutilizar una red ya entrenada en un problema grande y genérico, adaptando solo la parte final a un problema nuevo y específico.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9" name="Shape 7"/>
          <p:cNvSpPr/>
          <p:nvPr/>
        </p:nvSpPr>
        <p:spPr>
          <a:xfrm>
            <a:off x="6519672" y="199339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19672" y="210312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congeladas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251460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que no se actualizan durante el entrenamiento (requires_grad=False) — se preserva el conocimiento visual ya aprendido.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423367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434340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Logits vs. probabilidades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475488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logits son la salida cruda del modelo (cualquier magnitud); softmax los convierte en probabilidades que suman 100%.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519672" y="423367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19672" y="434340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519672" y="475488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inferencia liviano que ejecuta modelos exportados sin necesitar la librería original (PyTorch) — clave para deploys con poca RAM.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2 · TROUBLESHOOTING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problemas reales en el camino al deploy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0120" y="1874520"/>
            <a:ext cx="32004" cy="2084832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56232"/>
            <a:ext cx="365760" cy="365760"/>
          </a:xfrm>
          <a:prstGeom prst="ellipse">
            <a:avLst/>
          </a:prstGeom>
          <a:solidFill>
            <a:srgbClr val="C1440E"/>
          </a:solidFill>
          <a:ln w="25400"/>
        </p:spPr>
      </p:sp>
      <p:sp>
        <p:nvSpPr>
          <p:cNvPr id="6" name="Text 4"/>
          <p:cNvSpPr txBox="1"/>
          <p:nvPr/>
        </p:nvSpPr>
        <p:spPr>
          <a:xfrm>
            <a:off x="77724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83080"/>
            <a:ext cx="4663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con streaming=True se caía con MemoryError decodificando ciertas imágenes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929384"/>
            <a:ext cx="36576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0" y="1783080"/>
            <a:ext cx="4937760" cy="996696"/>
          </a:xfrm>
          <a:prstGeom prst="roundRect">
            <a:avLst>
              <a:gd name="adj" fmla="val 5505"/>
            </a:avLst>
          </a:prstGeom>
          <a:solidFill>
            <a:srgbClr val="F2F7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03720" y="1783080"/>
            <a:ext cx="44805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cambió a descarga normal + muestreo balanceado manual sobre el dataset completo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2990088"/>
            <a:ext cx="365760" cy="365760"/>
          </a:xfrm>
          <a:prstGeom prst="ellipse">
            <a:avLst/>
          </a:prstGeom>
          <a:solidFill>
            <a:srgbClr val="C1440E"/>
          </a:solidFill>
          <a:ln w="25400"/>
        </p:spPr>
      </p:sp>
      <p:sp>
        <p:nvSpPr>
          <p:cNvPr id="12" name="Text 10"/>
          <p:cNvSpPr txBox="1"/>
          <p:nvPr/>
        </p:nvSpPr>
        <p:spPr>
          <a:xfrm>
            <a:off x="777240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2916936"/>
            <a:ext cx="4663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gradio==5.7.1 crasheaba generando el schema de la API para gr.Label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3063240"/>
            <a:ext cx="36576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0" y="2916936"/>
            <a:ext cx="4937760" cy="996696"/>
          </a:xfrm>
          <a:prstGeom prst="roundRect">
            <a:avLst>
              <a:gd name="adj" fmla="val 5505"/>
            </a:avLst>
          </a:prstGeom>
          <a:solidFill>
            <a:srgbClr val="F2F7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03720" y="2916936"/>
            <a:ext cx="44805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actualizó a gradio==5.50.0, donde el bug ya estaba corregido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2 · RESUMEN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Stack, deploy y resultado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TÉCNICO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+ torchvision — entrenamiento (solo local/dev)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3500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— arquitectura base (ImageNet)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2549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73405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datasets — garythung/trashnet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0954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11810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 — inferencia en producción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59359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5021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— interfaz de subida de foto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1691640"/>
            <a:ext cx="5257800" cy="3246120"/>
          </a:xfrm>
          <a:prstGeom prst="roundRect">
            <a:avLst>
              <a:gd name="adj" fmla="val 2254"/>
            </a:avLst>
          </a:prstGeom>
          <a:solidFill>
            <a:srgbClr val="0737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2940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219456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Plataforma: Render (free tier)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Blueprint: render.yaml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variables secretas —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corre local, sin API externa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fijado: 3.10.13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Verificado en producción: fotos reales de prueba → "cardboard" 99.6%, "glass" 76.7%, "paper" 94.0% de confianza.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3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0" dirty="0"/>
          </a:p>
        </p:txBody>
      </p:sp>
      <p:sp>
        <p:nvSpPr>
          <p:cNvPr id="3" name="Shape 1"/>
          <p:cNvSpPr/>
          <p:nvPr/>
        </p:nvSpPr>
        <p:spPr>
          <a:xfrm>
            <a:off x="3383280" y="2331720"/>
            <a:ext cx="36576" cy="18288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0" y="23317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Tool-Use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33375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cuándo llamar herramientas reales: calculadora, clima, Wikipedia, hora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3 · CONCEPTO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tool-use (function calling)?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86000"/>
            <a:ext cx="548640" cy="54864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632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LLM normal solo genera texto: no puede calcular con precisión, no sabe el clima de hoy ni la hora actual. Si le preguntas, inventa una respuesta que suena bien pero puede ser falsa (alucinación).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0" y="22860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solución: function calling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30632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vez de responder directo, el modelo puede pedir "ejecuta la función calculator con expression='23*4'". Python corre esa función de verdad y le devuelve el resultado, para que termine su respuesta con datos reales en la mano.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3 · ARQUITECTURA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ciclo del agente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— se repite hasta tener suficiente información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del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42316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8" name="Shape 6"/>
          <p:cNvSpPr/>
          <p:nvPr/>
        </p:nvSpPr>
        <p:spPr>
          <a:xfrm>
            <a:off x="269748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0720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¿Necesita una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11" name="Shape 9"/>
          <p:cNvSpPr/>
          <p:nvPr/>
        </p:nvSpPr>
        <p:spPr>
          <a:xfrm>
            <a:off x="484632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5604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ejecuta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función real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2084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14" name="Shape 12"/>
          <p:cNvSpPr/>
          <p:nvPr/>
        </p:nvSpPr>
        <p:spPr>
          <a:xfrm>
            <a:off x="699516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0488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REAL — verificado en producción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"clima en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Ovalle?"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42316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0" name="Shape 18"/>
          <p:cNvSpPr/>
          <p:nvPr/>
        </p:nvSpPr>
        <p:spPr>
          <a:xfrm>
            <a:off x="269748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80720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get_weather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(city='Ovalle')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3" name="Shape 21"/>
          <p:cNvSpPr/>
          <p:nvPr/>
        </p:nvSpPr>
        <p:spPr>
          <a:xfrm>
            <a:off x="484632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5604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13.0°C, viento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km/h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72084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6" name="Shape 24"/>
          <p:cNvSpPr/>
          <p:nvPr/>
        </p:nvSpPr>
        <p:spPr>
          <a:xfrm>
            <a:off x="699516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0488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"Está a 13°C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Ovalle"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2F7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51937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 los proyectos 1 y 2, acá no hay dos fases separadas — es un solo ciclo que puede repetirse varias veces (hasta MAX_STEPS) antes de dar la respuesta final.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3 · LAS HERRAMIENTAS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herramientas, sin frameworks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2821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(evaluación segura, no eval())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39112"/>
            <a:ext cx="55778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LLM arma el string de la expresión — un eval() crudo sería ejecución de código arbitrario. Se usa ast.parse() y solo se permiten números y operadores aritméticos.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6037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6037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90550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 (get_weather, Open-Meteo)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216402"/>
            <a:ext cx="55778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Geocoding (ciudad → lat/lon) + forecast (lat/lon → clima actual). Gratis, sin API key.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376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1376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08279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en Wikipedia (search_wikipedia)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93692"/>
            <a:ext cx="55778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 más problemas dio — ver troubleshooting. Hoy resuelve el título real antes de pedir el resumen.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31495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31495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26008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actual (get_current_time)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570982"/>
            <a:ext cx="55778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única sin llamada de red — usa zoneinfo (librería estándar) para cualquier zona horaria IANA.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78040" y="1783080"/>
            <a:ext cx="4434840" cy="4709160"/>
          </a:xfrm>
          <a:prstGeom prst="roundRect">
            <a:avLst>
              <a:gd name="adj" fmla="val 1649"/>
            </a:avLst>
          </a:prstGeom>
          <a:solidFill>
            <a:srgbClr val="0737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0664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 UNA HERRAMIENTA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2240280"/>
            <a:ext cx="4023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"type": "function",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"function": {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"calculator",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"description":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"Evaluate a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basic arithmetic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expression",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"parameters": {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"type": "object",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"properties": {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"expression":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{"type":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"string"}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},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"required":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["expression"]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3 · EL LOOP DEL AGENTE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run_agent(): la pieza central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2821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Preguntar al modelo con tools=TOOL_SCHEMAS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39112"/>
            <a:ext cx="55778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parámetro es lo que habilita function calling — sin él, la API se comporta como un chat normal.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6037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6037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90550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¿No pidió ninguna herramienta?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216402"/>
            <a:ext cx="55778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tiene su respuesta final — se devuelve el texto y el ciclo termina.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376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1376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08279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¿Pidió una herramienta?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93692"/>
            <a:ext cx="55778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guarda su petición en el historial, Python ejecuta la función real, y el resultado se agrega con role: "tool". El ciclo vuelve a empezar.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31495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31495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26008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MAX_STEPS = 5 como salvaguarda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570982"/>
            <a:ext cx="55778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un límite, un agente con bugs (como el que encontramos) podría pedir herramientas para siempre.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78040" y="1783080"/>
            <a:ext cx="4434840" cy="4709160"/>
          </a:xfrm>
          <a:prstGeom prst="roundRect">
            <a:avLst>
              <a:gd name="adj" fmla="val 1649"/>
            </a:avLst>
          </a:prstGeom>
          <a:solidFill>
            <a:srgbClr val="0737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0664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RECHAZABA ESTO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2240280"/>
            <a:ext cx="4023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 funciona: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messages.append(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message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.model_dump()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incluye campos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extra que Groq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rechaza (ej.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"annotations")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SÍ funciona: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messages.append({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"role":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"assistant",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"content":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message.content,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"tool_calls":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[...]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3 · CONCEPTOS CLAVE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Glosario para no perderse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9339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10312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 / tool-use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51460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capacidad de un LLM de pedir la ejecución de una función real en vez de solo generar texto — la base de todo "agente de IA".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9" name="Shape 7"/>
          <p:cNvSpPr/>
          <p:nvPr/>
        </p:nvSpPr>
        <p:spPr>
          <a:xfrm>
            <a:off x="6519672" y="199339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19672" y="210312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schema (JSON Schema)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251460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descripción estructurada de una herramienta (nombre, propósito, argumentos) que el modelo lee para decidir cómo llamarla.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423367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434340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como control de comportamiento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475488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todos los bugs se arreglan con código — a veces el fix real es una instrucción más clara en el prompt.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519672" y="423367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19672" y="434340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Salvaguarda de pasos máximos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519672" y="475488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límite explícito de vueltas del ciclo, para que un agente con bugs no quede pidiendo herramientas para siempre.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3 · TROUBLESHOOTING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problemas reales en el camino al deploy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0120" y="1874520"/>
            <a:ext cx="32004" cy="2084832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56232"/>
            <a:ext cx="365760" cy="365760"/>
          </a:xfrm>
          <a:prstGeom prst="ellipse">
            <a:avLst/>
          </a:prstGeom>
          <a:solidFill>
            <a:srgbClr val="C1440E"/>
          </a:solidFill>
          <a:ln w="25400"/>
        </p:spPr>
      </p:sp>
      <p:sp>
        <p:nvSpPr>
          <p:cNvPr id="6" name="Text 4"/>
          <p:cNvSpPr txBox="1"/>
          <p:nvPr/>
        </p:nvSpPr>
        <p:spPr>
          <a:xfrm>
            <a:off x="77724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83080"/>
            <a:ext cx="4663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API de Wikipedia rechazaba las peticiones (403: falta un User-Agent)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929384"/>
            <a:ext cx="36576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0" y="1783080"/>
            <a:ext cx="4937760" cy="996696"/>
          </a:xfrm>
          <a:prstGeom prst="roundRect">
            <a:avLst>
              <a:gd name="adj" fmla="val 5505"/>
            </a:avLst>
          </a:prstGeom>
          <a:solidFill>
            <a:srgbClr val="F2F7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03720" y="1783080"/>
            <a:ext cx="44805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agregó un header User-Agent descriptivo, como exige su política de bots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2990088"/>
            <a:ext cx="365760" cy="365760"/>
          </a:xfrm>
          <a:prstGeom prst="ellipse">
            <a:avLst/>
          </a:prstGeom>
          <a:solidFill>
            <a:srgbClr val="C1440E"/>
          </a:solidFill>
          <a:ln w="25400"/>
        </p:spPr>
      </p:sp>
      <p:sp>
        <p:nvSpPr>
          <p:cNvPr id="12" name="Text 10"/>
          <p:cNvSpPr txBox="1"/>
          <p:nvPr/>
        </p:nvSpPr>
        <p:spPr>
          <a:xfrm>
            <a:off x="777240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2916936"/>
            <a:ext cx="4663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reintentaba variaciones de una búsqueda fallida hasta agotar MAX_STEPS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3063240"/>
            <a:ext cx="36576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0" y="2916936"/>
            <a:ext cx="4937760" cy="996696"/>
          </a:xfrm>
          <a:prstGeom prst="roundRect">
            <a:avLst>
              <a:gd name="adj" fmla="val 5505"/>
            </a:avLst>
          </a:prstGeom>
          <a:solidFill>
            <a:srgbClr val="F2F7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03720" y="2916936"/>
            <a:ext cx="44805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herramienta ahora resuelve el título real primero, y el prompt le dice explícitamente que no reintente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3 · RESUMEN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Stack, deploy y resultado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TÉCNICO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(SDK oficial) — sin LangChain, protocolo visible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3500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— Open-Meteo y Wikipedia (APIs gratis)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2549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73405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zoneinfo (estándar) — hora por zona horaria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0954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11810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(openai/gpt-oss-20b) — decide qué herramienta usar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59359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5021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— muestra los pasos del agente en cada respuesta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1691640"/>
            <a:ext cx="5257800" cy="3246120"/>
          </a:xfrm>
          <a:prstGeom prst="roundRect">
            <a:avLst>
              <a:gd name="adj" fmla="val 2254"/>
            </a:avLst>
          </a:prstGeom>
          <a:solidFill>
            <a:srgbClr val="0737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2940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219456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Plataforma: Render (free tier)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Blueprint: render.yaml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Variable: GROQ_API_KEY (secreta)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fijado: 3.10.13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Verificado en producción: pregunta compuesta (clima + cálculo) → llamó a get_weather correctamente y resolvió ambas partes.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73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0" dirty="0"/>
          </a:p>
        </p:txBody>
      </p:sp>
      <p:sp>
        <p:nvSpPr>
          <p:cNvPr id="3" name="Shape 1"/>
          <p:cNvSpPr/>
          <p:nvPr/>
        </p:nvSpPr>
        <p:spPr>
          <a:xfrm>
            <a:off x="3383280" y="2331720"/>
            <a:ext cx="36576" cy="18288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0" y="23317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Recomendador de Películas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33375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Filtrado colaborativo: recomienda sin redes neuronales, con matrices y similitud coseno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4 · CONCEPTO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filtrado colaborativo?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86000"/>
            <a:ext cx="548640" cy="54864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632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todo problema de IA necesita una red neuronal. Recomendar películas parecidas podría intentarse con deep learning, pero sería sobre-ingeniería cuando el patrón real es más simple: usuarios parecidos tienden a gustar de cosas parecidas.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0" y="22860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solución: filtrado colaborativo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30632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Representar cada película como un vector de cómo la calificó cada usuario, y comparar películas por similitud coseno entre esos vectores. Ni géneros ni actores — la recomendación surge solo del patrón de calificaciones.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4 · ARQUITECTURA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Otra vez, dos fases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A — Indexado (build_index, una vez, al arrancar)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los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42316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8" name="Shape 6"/>
          <p:cNvSpPr/>
          <p:nvPr/>
        </p:nvSpPr>
        <p:spPr>
          <a:xfrm>
            <a:off x="269748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0720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películas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pocas ratings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11" name="Shape 9"/>
          <p:cNvSpPr/>
          <p:nvPr/>
        </p:nvSpPr>
        <p:spPr>
          <a:xfrm>
            <a:off x="484632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5604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matriz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rala (sparse)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2084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14" name="Shape 12"/>
          <p:cNvSpPr/>
          <p:nvPr/>
        </p:nvSpPr>
        <p:spPr>
          <a:xfrm>
            <a:off x="699516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0488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para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B — Consulta (recommend, en cada búsqueda)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elige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película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42316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0" name="Shape 18"/>
          <p:cNvSpPr/>
          <p:nvPr/>
        </p:nvSpPr>
        <p:spPr>
          <a:xfrm>
            <a:off x="269748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80720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contra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demás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3" name="Shape 21"/>
          <p:cNvSpPr/>
          <p:nvPr/>
        </p:nvSpPr>
        <p:spPr>
          <a:xfrm>
            <a:off x="484632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5604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por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similitud coseno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72084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6" name="Shape 24"/>
          <p:cNvSpPr/>
          <p:nvPr/>
        </p:nvSpPr>
        <p:spPr>
          <a:xfrm>
            <a:off x="699516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0488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2F7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51937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patrón mental que el chatbot RAG: indexar una vez, consultar muchas veces. Acá 'indexar' es construir la matriz de calificaciones, no embeddings de texto.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4 · FASE 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 el índice (build_index)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2821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los CSVs (movies.csv, ratings.csv)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39112"/>
            <a:ext cx="1033272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ml-latest-small: ~100.000 calificaciones, ~9700 películas, 610 usuarios. Nunca se usan los géneros — solo el patrón de calificaciones.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528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352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29793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películas con pocas calificaciones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608832"/>
            <a:ext cx="1033272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MIN_RATINGS=10 descarta películas sin señal suficiente para una similitud confiable. Sobreviven ~2270 de las ~9700.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922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922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86765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una matriz RALA (csr_matrix)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178552"/>
            <a:ext cx="1033272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películas × usuarios. Solo se guardan las ~81.000 celdas con valor real, no las ~1.38 millones de huecos — la diferencia entre caber en memoria y no caber.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4 · FASE 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consulta (recommend)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2821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Tomar el vector de la película elegida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3911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fila completa en la matriz: cómo la calificó cada uno de los 610 usuarios.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528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352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29793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cosine_similarity contra toda la matriz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60883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llamada vectorizada compara ese vector contra las ~2270 películas a la vez, sin loops en Python.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922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922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86765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y devolver el top 10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17855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descarta la propia película (similitud 1.0 consigo misma) antes de completar la lista.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78040" y="1783080"/>
            <a:ext cx="4434840" cy="4709160"/>
          </a:xfrm>
          <a:prstGeom prst="roundRect">
            <a:avLst>
              <a:gd name="adj" fmla="val 1649"/>
            </a:avLst>
          </a:prstGeom>
          <a:solidFill>
            <a:srgbClr val="0737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0664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SIMILITUD COSENO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2240280"/>
            <a:ext cx="4023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logits crudos no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existen acá --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 geometría: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Toy Story vs.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Toy Story 2: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0.57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Toy Story vs.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Pulp Fiction: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0.12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(mismos usuarios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calificando parecido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vectores apuntando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la misma direccion)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4 · CONCEPTOS CLAVE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Glosario para no perderse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9339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10312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Filtrado colaborativo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51460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Recomendar basado en el comportamiento colectivo de miles de usuarios, no en entender el contenido (género, actores) de lo recomendado.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9" name="Shape 7"/>
          <p:cNvSpPr/>
          <p:nvPr/>
        </p:nvSpPr>
        <p:spPr>
          <a:xfrm>
            <a:off x="6519672" y="199339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19672" y="210312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rala (sparse)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251460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que solo guarda las celdas con valor real, ignorando los huecos — clave cuando la mayoría de combinaciones usuario-ítem nunca ocurrieron.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423367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434340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Similitud coseno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475488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qué tan parecida es la dirección de dos vectores (-1 a 1), ignorando su magnitud. Base de la búsqueda semántica del proyecto 1 también.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519672" y="423367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19672" y="434340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cuadrática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519672" y="475488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Precalcular todas las similitudes entre todos los pares crece con el cuadrado del catálogo — el mismo tipo de trampa de memoria de los proyectos 1 y 2.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4 · DECISIÓN DE DISEÑO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bugs esta vez — pero 1 decisión que evitó uno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0120" y="1874520"/>
            <a:ext cx="32004" cy="950976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56232"/>
            <a:ext cx="365760" cy="365760"/>
          </a:xfrm>
          <a:prstGeom prst="ellipse">
            <a:avLst/>
          </a:prstGeom>
          <a:solidFill>
            <a:srgbClr val="C1440E"/>
          </a:solidFill>
          <a:ln w="25400"/>
        </p:spPr>
      </p:sp>
      <p:sp>
        <p:nvSpPr>
          <p:cNvPr id="6" name="Text 4"/>
          <p:cNvSpPr txBox="1"/>
          <p:nvPr/>
        </p:nvSpPr>
        <p:spPr>
          <a:xfrm>
            <a:off x="77724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83080"/>
            <a:ext cx="4663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Tentación: precalcular toda la matriz película-película al arrancar (2270×2270)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929384"/>
            <a:ext cx="36576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0" y="1783080"/>
            <a:ext cx="4937760" cy="996696"/>
          </a:xfrm>
          <a:prstGeom prst="roundRect">
            <a:avLst>
              <a:gd name="adj" fmla="val 5505"/>
            </a:avLst>
          </a:prstGeom>
          <a:solidFill>
            <a:srgbClr val="F2F7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03720" y="1783080"/>
            <a:ext cx="44805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calcula la similitud una fila a la vez, por consulta — nunca se guarda la matriz completa en memoria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4 · RESUMEN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Stack, deploy y resultado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TÉCNICO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— cargar y filtrar los CSVs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3500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(csr_matrix) — matriz rala de calificaciones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2549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73405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(cosine_similarity) — comparar películas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0954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11810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— dropdown con búsqueda de películas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55080" y="1691640"/>
            <a:ext cx="5257800" cy="3246120"/>
          </a:xfrm>
          <a:prstGeom prst="roundRect">
            <a:avLst>
              <a:gd name="adj" fmla="val 2254"/>
            </a:avLst>
          </a:prstGeom>
          <a:solidFill>
            <a:srgbClr val="0737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2940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219456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Plataforma: Render (free tier)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Blueprint: render.yaml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variables secretas —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API externa, dataset incluido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fijado: 3.10.13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Verificado en producción: "Toy Story (1995)" → Toy Story 2, Jurassic Park, Star Wars — resultado idéntico al local, primer deploy sin bugs.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Lecciones que se repiten en los cuatro proyectos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627632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563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Liviano en producción, pesado solo en desarrollo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819656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PyTorch/sentence-transformers entrenan y prueban local; ONNX Runtime / FastEmbed corren en el servidor. Nada de torch en el deploy final.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F2F7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404872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404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34086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 versiones, no confíes en "latest"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596896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 explícito, versiones exactas en requirements.txt. Los free tiers cambian de Python por defecto sin avisar, y eso rompe builds silenciosamente.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2F7F7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3182112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11810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"Compila" no es "funciona"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374136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proyectos parecían listos tras el build — pero fallaban en runtime real (memoria, esquema, un loop infinito). Siempre se probó con una pregunta real contra el servidor desplegado.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F2F7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3959352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3959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89534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free tiers tienen límites reales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4151376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512MB de RAM, cold starts de 30-60s, cambios de precios de un día para otro (Hugging Face Spaces). Hay que diseñar para esas restricciones, no asumirlas.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61772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2F7F7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" y="4736592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4736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46725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que genera un LLM no es seguro por defecto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4928616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agente que arma expresiones para un eval() es una vulnerabilidad de ejecución de código. Y no todo bug se arregla con código — a veces el fix real es el prompt.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539496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F2F7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232" y="5513832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13232" y="5513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280160" y="54498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todo problema necesita deep learning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280160" y="5705856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recomendador de películas (proyecto 4) no usó ninguna red neuronal — matrices ralas y similitud coseno bastaron, y fue el único deploy sin bugs.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73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4114800"/>
            <a:ext cx="5029200" cy="5029200"/>
          </a:xfrm>
          <a:prstGeom prst="ellipse">
            <a:avLst/>
          </a:prstGeom>
          <a:solidFill>
            <a:srgbClr val="00A896">
              <a:alpha val="11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87452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4 proyectos a un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portafolio de IA completo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3730752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36576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(audio) y YOLO (detección) — nuevas modalidades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233672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41605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con LoRA — el más avanzado, para el final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9436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portafolio de IA vivirá en un repo nuevo, separado, con un enlace al portafolio web actual.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2026-09-04T00:51:59Z</dcterms:created>
  <dcterms:modified xsi:type="dcterms:W3CDTF">2026-09-04T00:51:59Z</dcterms:modified>
</cp:coreProperties>
</file>